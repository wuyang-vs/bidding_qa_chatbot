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5080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招投标 RAG 智能问答系统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BDD7EE"/>
                </a:solidFill>
                <a:latin typeface="微软雅黑"/>
              </a:rPr>
              <a:t>检索增强生成 · ReAct 智能体 · 多专家协作 · 有依据地回答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6908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系统架构  |  技术栈  |  核心算法  |  前端展示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DD7EE"/>
                </a:solidFill>
                <a:latin typeface="微软雅黑"/>
              </a:rPr>
              <a:t>技术亮点: 检索 HitRate@5=100% · nDCG@20=0.9846 · 验收 60/60 · 硬闸门防幻觉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一、系统架构 — 五层分层设计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051560"/>
            <a:ext cx="1920240" cy="1024128"/>
          </a:xfrm>
          <a:prstGeom prst="roundRect">
            <a:avLst/>
          </a:prstGeom>
          <a:solidFill>
            <a:srgbClr val="3185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61288"/>
            <a:ext cx="18288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前端层</a:t>
            </a:r>
          </a:p>
          <a:p>
            <a:pPr algn="ctr">
              <a:spcAft>
                <a:spcPts val="400"/>
              </a:spcAft>
            </a:pPr>
            <a:r>
              <a:rPr sz="950" b="0">
                <a:solidFill>
                  <a:srgbClr val="E8EEF4"/>
                </a:solidFill>
                <a:latin typeface="微软雅黑"/>
              </a:rPr>
              <a:t>Next.js 14 + React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1051560"/>
            <a:ext cx="9372600" cy="1024128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06040" y="1143000"/>
            <a:ext cx="9052560" cy="8778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333333"/>
                </a:solidFill>
                <a:latin typeface="微软雅黑"/>
              </a:rPr>
              <a:t>对话问答 · Agent 过程可视化 · 评测看板 · 文档管理 · 知识图谱 · 企业资料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130552"/>
            <a:ext cx="1920240" cy="102412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40280"/>
            <a:ext cx="18288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API 层</a:t>
            </a:r>
          </a:p>
          <a:p>
            <a:pPr algn="ctr">
              <a:spcAft>
                <a:spcPts val="400"/>
              </a:spcAft>
            </a:pPr>
            <a:r>
              <a:rPr sz="950" b="0">
                <a:solidFill>
                  <a:srgbClr val="E8EEF4"/>
                </a:solidFill>
                <a:latin typeface="微软雅黑"/>
              </a:rPr>
              <a:t>FastAPI (:8001)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2130552"/>
            <a:ext cx="9372600" cy="1024128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221992"/>
            <a:ext cx="9052560" cy="8778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333333"/>
                </a:solidFill>
                <a:latin typeface="微软雅黑"/>
              </a:rPr>
              <a:t>REST + SSE 流式 · JWT/RBAC 鉴权 · 限流 · 审计日志 · /docs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209544"/>
            <a:ext cx="1920240" cy="1024128"/>
          </a:xfrm>
          <a:prstGeom prst="round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319272"/>
            <a:ext cx="18288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Agent 编排层</a:t>
            </a:r>
          </a:p>
          <a:p>
            <a:pPr algn="ctr">
              <a:spcAft>
                <a:spcPts val="400"/>
              </a:spcAft>
            </a:pPr>
            <a:r>
              <a:rPr sz="950" b="0">
                <a:solidFill>
                  <a:srgbClr val="E8EEF4"/>
                </a:solidFill>
                <a:latin typeface="微软雅黑"/>
              </a:rPr>
              <a:t>ReAct + 多专家 + 意图路由 + 证据门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23160" y="3209544"/>
            <a:ext cx="9372600" cy="1024128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06040" y="3300984"/>
            <a:ext cx="9052560" cy="8778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333333"/>
                </a:solidFill>
                <a:latin typeface="微软雅黑"/>
              </a:rPr>
              <a:t>意图路由(三业务线裁剪工具) → ReAct 循环(≤3步) / 多专家并行(法规·案例·价格) → 证据门(无引用不生成)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4288536"/>
            <a:ext cx="1920240" cy="1024128"/>
          </a:xfrm>
          <a:prstGeom prst="roundRect">
            <a:avLst/>
          </a:prstGeom>
          <a:solidFill>
            <a:srgbClr val="4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398264"/>
            <a:ext cx="18288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RAG 检索层</a:t>
            </a:r>
          </a:p>
          <a:p>
            <a:pPr algn="ctr">
              <a:spcAft>
                <a:spcPts val="400"/>
              </a:spcAft>
            </a:pPr>
            <a:r>
              <a:rPr sz="950" b="0">
                <a:solidFill>
                  <a:srgbClr val="E8EEF4"/>
                </a:solidFill>
                <a:latin typeface="微软雅黑"/>
              </a:rPr>
              <a:t>解析 → 切片 → Query 规划 → 多路召回 → 精排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23160" y="4288536"/>
            <a:ext cx="9372600" cy="1024128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06040" y="4379976"/>
            <a:ext cx="9052560" cy="8778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333333"/>
                </a:solidFill>
                <a:latin typeface="微软雅黑"/>
              </a:rPr>
              <a:t>页感知解析(OCR) · 语义切片(标题加权) · 指代消解+受控变体 · Dense+BM25 RRF · CrossEncoder 精排+来源多样性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5367528"/>
            <a:ext cx="1920240" cy="1024128"/>
          </a:xfrm>
          <a:prstGeom prst="round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477256"/>
            <a:ext cx="18288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存储与模型层</a:t>
            </a:r>
          </a:p>
          <a:p>
            <a:pPr algn="ctr">
              <a:spcAft>
                <a:spcPts val="400"/>
              </a:spcAft>
            </a:pPr>
            <a:r>
              <a:rPr sz="950" b="0">
                <a:solidFill>
                  <a:srgbClr val="E8EEF4"/>
                </a:solidFill>
                <a:latin typeface="微软雅黑"/>
              </a:rPr>
              <a:t>Qdrant · PostgreSQL · Neo4j · 本地模型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23160" y="5367528"/>
            <a:ext cx="9372600" cy="1024128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06040" y="5458968"/>
            <a:ext cx="9052560" cy="8778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333333"/>
                </a:solidFill>
                <a:latin typeface="微软雅黑"/>
              </a:rPr>
              <a:t>向量(617点) / 业务数据(历史中标·审计) / 知识图谱 | BGE-M3 · bge-reranker-v2-m3 · DeepSeek/GLM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465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31859C"/>
                </a:solidFill>
                <a:latin typeface="微软雅黑"/>
              </a:rPr>
              <a:t>数据流: 浏览器 → SSE 流式问答 → Agent 编排 → RAG 检索(证据) → 生成(带 [资料N] 引用与来源卡片)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二、技术栈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2276856" cy="457200"/>
          </a:xfrm>
          <a:prstGeom prst="roundRect">
            <a:avLst/>
          </a:prstGeom>
          <a:solidFill>
            <a:srgbClr val="3185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22768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后端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54480"/>
            <a:ext cx="2276856" cy="4937760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664208"/>
            <a:ext cx="2057400" cy="4718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050" b="0">
                <a:solidFill>
                  <a:srgbClr val="595959"/>
                </a:solidFill>
                <a:latin typeface="微软雅黑"/>
              </a:rPr>
              <a:t>• Python 3.12 + uv (依赖锁定 uv.lock)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595959"/>
                </a:solidFill>
                <a:latin typeface="微软雅黑"/>
              </a:rPr>
              <a:t>• FastAPI + Uvicorn (REST/SSE, :8001)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595959"/>
                </a:solidFill>
                <a:latin typeface="微软雅黑"/>
              </a:rPr>
              <a:t>• pydantic 配置 + dotenv 环境变量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595959"/>
                </a:solidFill>
                <a:latin typeface="微软雅黑"/>
              </a:rPr>
              <a:t>• python-docx/PyMuPDF/openpyxl 文档解析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595959"/>
                </a:solidFill>
                <a:latin typeface="微软雅黑"/>
              </a:rPr>
              <a:t>• PaddleOCR/证书 OCR · Fernet 字段加密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83764" y="1097280"/>
            <a:ext cx="2276856" cy="4572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83764" y="1143000"/>
            <a:ext cx="22768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前端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83764" y="1554480"/>
            <a:ext cx="2276856" cy="4937760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93492" y="1664208"/>
            <a:ext cx="2057400" cy="4718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050" b="0">
                <a:solidFill>
                  <a:srgbClr val="595959"/>
                </a:solidFill>
                <a:latin typeface="微软雅黑"/>
              </a:rPr>
              <a:t>• Next.js 14 (App Router) + React 18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595959"/>
                </a:solidFill>
                <a:latin typeface="微软雅黑"/>
              </a:rPr>
              <a:t>• TypeScript + Tailwind CSS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595959"/>
                </a:solidFill>
                <a:latin typeface="微软雅黑"/>
              </a:rPr>
              <a:t>• SSE 流式渲染 (fetch stream)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595959"/>
                </a:solidFill>
                <a:latin typeface="微软雅黑"/>
              </a:rPr>
              <a:t>• react-markdown + lucide-react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595959"/>
                </a:solidFill>
                <a:latin typeface="微软雅黑"/>
              </a:rPr>
              <a:t>• 6 页面: 对话/Agent/看板/文档/图谱/资料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01768" y="1097280"/>
            <a:ext cx="2276856" cy="457200"/>
          </a:xfrm>
          <a:prstGeom prst="roundRect">
            <a:avLst/>
          </a:prstGeom>
          <a:solidFill>
            <a:srgbClr val="4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1768" y="1143000"/>
            <a:ext cx="22768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存储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01768" y="1554480"/>
            <a:ext cx="2276856" cy="4937760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11496" y="1664208"/>
            <a:ext cx="2057400" cy="4718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050" b="0">
                <a:solidFill>
                  <a:srgbClr val="595959"/>
                </a:solidFill>
                <a:latin typeface="微软雅黑"/>
              </a:rPr>
              <a:t>• Qdrant — 向量库 (hybrid 检索, 617 点)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595959"/>
                </a:solidFill>
                <a:latin typeface="微软雅黑"/>
              </a:rPr>
              <a:t>• PostgreSQL 16 — 业务库/历史中标/审计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595959"/>
                </a:solidFill>
                <a:latin typeface="微软雅黑"/>
              </a:rPr>
              <a:t>• Neo4j 5 — 知识图谱 (可选)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595959"/>
                </a:solidFill>
                <a:latin typeface="微软雅黑"/>
              </a:rPr>
              <a:t>• 本地磁盘 / MinIO-S3 证书存储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595959"/>
                </a:solidFill>
                <a:latin typeface="微软雅黑"/>
              </a:rPr>
              <a:t>• LRU 内存缓存 (256)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9772" y="1097280"/>
            <a:ext cx="2276856" cy="457200"/>
          </a:xfrm>
          <a:prstGeom prst="round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9772" y="1143000"/>
            <a:ext cx="22768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模型与算法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9772" y="1554480"/>
            <a:ext cx="2276856" cy="4937760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29500" y="1664208"/>
            <a:ext cx="2057400" cy="4718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050" b="0">
                <a:solidFill>
                  <a:srgbClr val="595959"/>
                </a:solidFill>
                <a:latin typeface="微软雅黑"/>
              </a:rPr>
              <a:t>• BGE-M3 — Embedding (1024维, Dense+Sparse)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595959"/>
                </a:solidFill>
                <a:latin typeface="微软雅黑"/>
              </a:rPr>
              <a:t>• bge-reranker-v2-m3 — CrossEncoder 精排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595959"/>
                </a:solidFill>
                <a:latin typeface="微软雅黑"/>
              </a:rPr>
              <a:t>• DeepSeek-V4 / GLM-4.7 — 生成与规划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595959"/>
                </a:solidFill>
                <a:latin typeface="微软雅黑"/>
              </a:rPr>
              <a:t>• HF_HOME 本地模型缓存 (D:\ai_models)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595959"/>
                </a:solidFill>
                <a:latin typeface="微软雅黑"/>
              </a:rPr>
              <a:t>• 无 GPU 依赖, CPU 可推理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7776" y="1097280"/>
            <a:ext cx="2276856" cy="457200"/>
          </a:xfrm>
          <a:prstGeom prst="round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37776" y="1143000"/>
            <a:ext cx="22768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部署与质量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37776" y="1554480"/>
            <a:ext cx="2276856" cy="4937760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47504" y="1664208"/>
            <a:ext cx="2057400" cy="4718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050" b="0">
                <a:solidFill>
                  <a:srgbClr val="595959"/>
                </a:solidFill>
                <a:latin typeface="微软雅黑"/>
              </a:rPr>
              <a:t>• start.bat 原生一键启动 / Docker Compose 5 容器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595959"/>
                </a:solidFill>
                <a:latin typeface="微软雅黑"/>
              </a:rPr>
              <a:t>• pytest 分层测试 · 证据门 54 断言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595959"/>
                </a:solidFill>
                <a:latin typeface="微软雅黑"/>
              </a:rPr>
              <a:t>• 评测: 检索 70 题 · Agent 55 题 · 验收 60 例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595959"/>
                </a:solidFill>
                <a:latin typeface="微软雅黑"/>
              </a:rPr>
              <a:t>• audit_logs 双类审计(操作+问答)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595959"/>
                </a:solidFill>
                <a:latin typeface="微软雅黑"/>
              </a:rPr>
              <a:t>• JWT/RBAC 三角色 (admin/bidder/匿名)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三、核心算法 — RAG 检索链路 (六环节)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234440"/>
            <a:ext cx="1810512" cy="502920"/>
          </a:xfrm>
          <a:prstGeom prst="roundRect">
            <a:avLst/>
          </a:prstGeom>
          <a:solidFill>
            <a:srgbClr val="3185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9304"/>
            <a:ext cx="18105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1 文档解析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737360"/>
            <a:ext cx="1810512" cy="1463040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828800"/>
            <a:ext cx="166420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95959"/>
                </a:solidFill>
                <a:latin typeface="微软雅黑"/>
              </a:rPr>
              <a:t>PDF 按页/DOCX/扫描件 OCR/Excel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95959"/>
                </a:solidFill>
                <a:latin typeface="微软雅黑"/>
              </a:rPr>
              <a:t>保留真实页码, 不伪造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76272" y="2011680"/>
            <a:ext cx="82296" cy="320040"/>
          </a:xfrm>
          <a:prstGeom prst="rightArrow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58568" y="1234440"/>
            <a:ext cx="1810512" cy="50292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58568" y="1289304"/>
            <a:ext cx="18105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2 语义切片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58568" y="1737360"/>
            <a:ext cx="1810512" cy="1463040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1828800"/>
            <a:ext cx="166420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95959"/>
                </a:solidFill>
                <a:latin typeface="微软雅黑"/>
              </a:rPr>
              <a:t>页感知分片, 不切断条款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95959"/>
                </a:solidFill>
                <a:latin typeface="微软雅黑"/>
              </a:rPr>
              <a:t>标题+正文组合加权 embedding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69080" y="2011680"/>
            <a:ext cx="82296" cy="320040"/>
          </a:xfrm>
          <a:prstGeom prst="rightArrow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51376" y="1234440"/>
            <a:ext cx="1810512" cy="502920"/>
          </a:xfrm>
          <a:prstGeom prst="round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51376" y="1289304"/>
            <a:ext cx="18105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3 Query 规划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51376" y="1737360"/>
            <a:ext cx="1810512" cy="1463040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24528" y="1828800"/>
            <a:ext cx="166420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95959"/>
                </a:solidFill>
                <a:latin typeface="微软雅黑"/>
              </a:rPr>
              <a:t>指代消解(会话补全)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95959"/>
                </a:solidFill>
                <a:latin typeface="微软雅黑"/>
              </a:rPr>
              <a:t>同义词受控变体 ≤3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961888" y="2011680"/>
            <a:ext cx="82296" cy="320040"/>
          </a:xfrm>
          <a:prstGeom prst="rightArrow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44184" y="1234440"/>
            <a:ext cx="1810512" cy="502920"/>
          </a:xfrm>
          <a:prstGeom prst="roundRect">
            <a:avLst/>
          </a:prstGeom>
          <a:solidFill>
            <a:srgbClr val="4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44184" y="1289304"/>
            <a:ext cx="18105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4 多路召回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44184" y="1737360"/>
            <a:ext cx="1810512" cy="1463040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17336" y="1828800"/>
            <a:ext cx="166420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95959"/>
                </a:solidFill>
                <a:latin typeface="微软雅黑"/>
              </a:rPr>
              <a:t>BGE-M3 Dense + BM25 Sparse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95959"/>
                </a:solidFill>
                <a:latin typeface="微软雅黑"/>
              </a:rPr>
              <a:t>Qdrant hybrid + RRF(k=60)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854696" y="2011680"/>
            <a:ext cx="82296" cy="320040"/>
          </a:xfrm>
          <a:prstGeom prst="rightArrow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936992" y="1234440"/>
            <a:ext cx="1810512" cy="50292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36992" y="1289304"/>
            <a:ext cx="18105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5 精排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36992" y="1737360"/>
            <a:ext cx="1810512" cy="1463040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10144" y="1828800"/>
            <a:ext cx="166420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95959"/>
                </a:solidFill>
                <a:latin typeface="微软雅黑"/>
              </a:rPr>
              <a:t>bge-reranker-v2-m3 重判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95959"/>
                </a:solidFill>
                <a:latin typeface="微软雅黑"/>
              </a:rPr>
              <a:t>来源多样性 max_per_source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747504" y="2011680"/>
            <a:ext cx="82296" cy="320040"/>
          </a:xfrm>
          <a:prstGeom prst="rightArrow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829800" y="1234440"/>
            <a:ext cx="1810512" cy="502920"/>
          </a:xfrm>
          <a:prstGeom prst="roundRect">
            <a:avLst/>
          </a:prstGeom>
          <a:solidFill>
            <a:srgbClr val="3185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29800" y="1289304"/>
            <a:ext cx="18105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6 证据上下文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29800" y="1737360"/>
            <a:ext cx="1810512" cy="1463040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02952" y="1828800"/>
            <a:ext cx="166420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95959"/>
                </a:solidFill>
                <a:latin typeface="微软雅黑"/>
              </a:rPr>
              <a:t>证据门: 分数阈值+特征词覆盖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95959"/>
                </a:solidFill>
                <a:latin typeface="微软雅黑"/>
              </a:rPr>
              <a:t>无引用不生成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3520440"/>
            <a:ext cx="11430000" cy="38404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3547872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消融实证 (同一 17 题, 逐组件叠加):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4069080"/>
            <a:ext cx="2798064" cy="1417320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178808"/>
            <a:ext cx="261518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33333"/>
                </a:solidFill>
                <a:latin typeface="微软雅黑"/>
              </a:rPr>
              <a:t>A0 纯 Dense 单路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1F4E79"/>
                </a:solidFill>
                <a:latin typeface="微软雅黑"/>
              </a:rPr>
              <a:t>nDCG 0.9756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595959"/>
                </a:solidFill>
                <a:latin typeface="微软雅黑"/>
              </a:rPr>
              <a:t>基线已可达 100% 召回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41548" y="4069080"/>
            <a:ext cx="2798064" cy="1417320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32988" y="4178808"/>
            <a:ext cx="261518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33333"/>
                </a:solidFill>
                <a:latin typeface="微软雅黑"/>
              </a:rPr>
              <a:t>A1 +BM25 混合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1F4E79"/>
                </a:solidFill>
                <a:latin typeface="微软雅黑"/>
              </a:rPr>
              <a:t>nDCG 0.6862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595959"/>
                </a:solidFill>
                <a:latin typeface="微软雅黑"/>
              </a:rPr>
              <a:t>RRF 融合稀释前排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17336" y="4069080"/>
            <a:ext cx="2798064" cy="1417320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08776" y="4178808"/>
            <a:ext cx="261518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33333"/>
                </a:solidFill>
                <a:latin typeface="微软雅黑"/>
              </a:rPr>
              <a:t>A2 +受控变体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1F4E79"/>
                </a:solidFill>
                <a:latin typeface="微软雅黑"/>
              </a:rPr>
              <a:t>nDCG 0.6520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595959"/>
                </a:solidFill>
                <a:latin typeface="微软雅黑"/>
              </a:rPr>
              <a:t>多路必需精排兜底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93124" y="4069080"/>
            <a:ext cx="2798064" cy="1417320"/>
          </a:xfrm>
          <a:prstGeom prst="roundRect">
            <a:avLst/>
          </a:prstGeom>
          <a:solidFill>
            <a:srgbClr val="4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84564" y="4178808"/>
            <a:ext cx="261518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A3 +精排+多样性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BF8F00"/>
                </a:solidFill>
                <a:latin typeface="微软雅黑"/>
              </a:rPr>
              <a:t>nDCG 0.9953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E8EEF4"/>
                </a:solidFill>
                <a:latin typeface="微软雅黑"/>
              </a:rPr>
              <a:t>精排贡献 +34.3pp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57150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微软雅黑"/>
              </a:rPr>
              <a:t>扩量复评 (70 题, top-K=5): HitRate@5 = 100% · MRR = 1.0 · nDCG = 0.9933 · EvidenceCoverage = 100%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595959"/>
                </a:solidFill>
                <a:latin typeface="微软雅黑"/>
              </a:rPr>
              <a:t>结论: 覆盖、排序、延迟可控平衡 — 不是简单扩大候选池, 而是每个组件的取舍都有数据支撑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四、核心算法 — Agent 编排与防幻觉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5577840" cy="3017520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</a:rPr>
              <a:t>ReAct 循环 (主链路, SSE 流式)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5212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微软雅黑"/>
              </a:rPr>
              <a:t>思考 → 行动 → 观察 循环, 最多 3 步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微软雅黑"/>
              </a:rPr>
              <a:t>9 个工具: 知识库/图谱/PG/标书/草稿/异常/范本/投诉/引导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微软雅黑"/>
              </a:rPr>
              <a:t>工具级并行 run_parallel 加速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微软雅黑"/>
              </a:rPr>
              <a:t>复杂多跳: gated 前自动拆分重试一次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微软雅黑"/>
              </a:rPr>
              <a:t>执行过程 SSE 推送, 前端时间线可视化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51560"/>
            <a:ext cx="5577840" cy="3017520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4F8A5B"/>
                </a:solidFill>
                <a:latin typeface="微软雅黑"/>
              </a:rPr>
              <a:t>多专家协作 (multi_agent, 可选入口)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5212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微软雅黑"/>
              </a:rPr>
              <a:t>主管 LLM 拆解问题 → 调度三专家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微软雅黑"/>
              </a:rPr>
              <a:t>法规 / 案例 / 价格 专家并行 ReAct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微软雅黑"/>
              </a:rPr>
              <a:t>综合终稿: 更全面, 非流式 (1-4 分钟)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微软雅黑"/>
              </a:rPr>
              <a:t>普通问答仍走单 Agent 流式链路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微软雅黑"/>
              </a:rPr>
              <a:t>终稿同样强制事实 + [资料N] 引用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251960"/>
            <a:ext cx="5577840" cy="2286000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37083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F8F00"/>
                </a:solidFill>
                <a:latin typeface="微软雅黑"/>
              </a:rPr>
              <a:t>意图路由 — 三业务线显式分类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73168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微软雅黑"/>
              </a:rPr>
              <a:t>强/弱信号词评分 → 招投标 / 企业 / 法规 / 通用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微软雅黑"/>
              </a:rPr>
              <a:t>法规 9→3 工具 · 企业 9→7 · 保守回退全集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微软雅黑"/>
              </a:rPr>
              <a:t>跨域底座 search_bidding_knowledge 恒保留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微软雅黑"/>
              </a:rPr>
              <a:t>INTENT_ROUTING_ENABLED 开关可回退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251960"/>
            <a:ext cx="5577840" cy="2286000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37083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1859C"/>
                </a:solidFill>
                <a:latin typeface="微软雅黑"/>
              </a:rPr>
              <a:t>证据门 — 硬闸门防幻觉 (54 断言)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773168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微软雅黑"/>
              </a:rPr>
              <a:t>低分噪声不算证据, 通用 FAQ 不为虚构背书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微软雅黑"/>
              </a:rPr>
              <a:t>特征词 2-gram 覆盖校验, 拦截目录泛化文本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微软雅黑"/>
              </a:rPr>
              <a:t>无证据 → 固定话术拒答, sources=[]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微软雅黑"/>
              </a:rPr>
              <a:t>GATE-01 虚构题 60/60 验收持续 gated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五、前端展示 — 对话问答页 (SSE 流式 + 来源卡片)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6_chat_sou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021" y="1051560"/>
            <a:ext cx="7390198" cy="5486400"/>
          </a:xfrm>
          <a:prstGeom prst="rect">
            <a:avLst/>
          </a:prstGeom>
          <a:ln w="9525">
            <a:solidFill>
              <a:srgbClr val="BDBDBD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549640" y="117043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微软雅黑"/>
              </a:rPr>
              <a:t>▸ 左侧栏: 历史会话 + 功能导航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171907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微软雅黑"/>
              </a:rPr>
              <a:t>▸ 回答区: SSE 流式逐字渲染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226771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微软雅黑"/>
              </a:rPr>
              <a:t>▸ [资料N] 引用标注可追溯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81635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微软雅黑"/>
              </a:rPr>
              <a:t>▸ 来源卡片: 文件名 + 相关度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336499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微软雅黑"/>
              </a:rPr>
              <a:t>▸ 回答耗时透明 (3.5s)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91363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微软雅黑"/>
              </a:rPr>
              <a:t>▸ 输入框: 联网搜索 / 深度思考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446227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微软雅黑"/>
              </a:rPr>
              <a:t>▸ 模型可切换 (DeepSeek / GLM)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512064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微软雅黑"/>
              </a:rPr>
              <a:t>无证据 → 固定话术拒答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微软雅黑"/>
              </a:rPr>
              <a:t>不编造、不给无出处结论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微软雅黑"/>
              </a:rPr>
              <a:t>问答审计仅存统计量, 不存原文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六、前端展示 — 多专家协作过程可视化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23_multi_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05615"/>
            <a:ext cx="7863840" cy="5378289"/>
          </a:xfrm>
          <a:prstGeom prst="rect">
            <a:avLst/>
          </a:prstGeom>
          <a:ln w="9525">
            <a:solidFill>
              <a:srgbClr val="BDBDBD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549640" y="117043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微软雅黑"/>
              </a:rPr>
              <a:t>▸ 用户问题: 多实体对比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1773936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微软雅黑"/>
              </a:rPr>
              <a:t>▸ 输入框 "多专家协作" 开关入口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2377440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微软雅黑"/>
              </a:rPr>
              <a:t>▸ 主管拆解 → 法规/价格 专家标签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980944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微软雅黑"/>
              </a:rPr>
              <a:t>▸ 专家并行: 轮次/耗时/结论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3584448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微软雅黑"/>
              </a:rPr>
              <a:t>▸ 案例专家: 已核查事实 + 来源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418795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微软雅黑"/>
              </a:rPr>
              <a:t>▸ 执行过程透明可追溯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4928616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4F8A5B"/>
                </a:solidFill>
                <a:latin typeface="微软雅黑"/>
              </a:rPr>
              <a:t>Agent 过程页 (/agent)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微软雅黑"/>
              </a:rPr>
              <a:t>执行历史 + 状态筛选 + 自动刷新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微软雅黑"/>
              </a:rPr>
              <a:t>阶段耗时条 + 工具调用批次 + Trace ID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七、前端展示 — 数据看板 (实时聚合监控)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e_test_dashboard_f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05615"/>
            <a:ext cx="7863840" cy="5378289"/>
          </a:xfrm>
          <a:prstGeom prst="rect">
            <a:avLst/>
          </a:prstGeom>
          <a:ln w="9525">
            <a:solidFill>
              <a:srgbClr val="BDBDBD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549640" y="117043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微软雅黑"/>
              </a:rPr>
              <a:t>▸ 知识库向量点数 (683 点)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1700784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微软雅黑"/>
              </a:rPr>
              <a:t>▸ 业务数据库记录 (30 条)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2231136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微软雅黑"/>
              </a:rPr>
              <a:t>▸ 知识图谱规模 (68/52)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761488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微软雅黑"/>
              </a:rPr>
              <a:t>▸ Agent 总请求 / 平均耗时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3291840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微软雅黑"/>
              </a:rPr>
              <a:t>▸ 状态分布: ok/no_evidence/error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82219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微软雅黑"/>
              </a:rPr>
              <a:t>▸ 工具调用排行 Top5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4352544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微软雅黑"/>
              </a:rPr>
              <a:t>▸ CPU/内存/磁盘 实时监控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4974336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微软雅黑"/>
              </a:rPr>
              <a:t>定时自动刷新 (10s)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微软雅黑"/>
              </a:rPr>
              <a:t>修复后统计正确显示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微软雅黑"/>
              </a:rPr>
              <a:t>一键跳转图谱页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八、前端展示 — 文件解析页 (上传 → 解析 → 合规检查)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e_test_compl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05615"/>
            <a:ext cx="7863840" cy="5378289"/>
          </a:xfrm>
          <a:prstGeom prst="rect">
            <a:avLst/>
          </a:prstGeom>
          <a:ln w="9525">
            <a:solidFill>
              <a:srgbClr val="BDBDBD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549640" y="117043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微软雅黑"/>
              </a:rPr>
              <a:t>▸ 上传: PDF / DOCX / XLSX / TXT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1700784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微软雅黑"/>
              </a:rPr>
              <a:t>▸ 自动抽取 8 字段 (项目名/预算等)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2231136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微软雅黑"/>
              </a:rPr>
              <a:t>▸ 自动入向量库 (vector_indexed)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761488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微软雅黑"/>
              </a:rPr>
              <a:t>▸ 15 条合规规则扫描 (高/中/低)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3291840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微软雅黑"/>
              </a:rPr>
              <a:t>▸ 人工确认 + 审计留痕 (复核/驳回)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82219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微软雅黑"/>
              </a:rPr>
              <a:t>▸ 文档列表实时更新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4443984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4F8A5B"/>
                </a:solidFill>
                <a:latin typeface="微软雅黑"/>
              </a:rPr>
              <a:t>审查工具链 (4 项)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微软雅黑"/>
              </a:rPr>
              <a:t>资格审查: FULL/PARTIAL/NO_MATCH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微软雅黑"/>
              </a:rPr>
              <a:t>废标自检: safe/risk/uncertain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微软雅黑"/>
              </a:rPr>
              <a:t>响应性检查 + 评分辅助表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九、前端展示 — 一键生成标书 (单章流式 + 整本合稿)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14_bid_ta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021" y="1051560"/>
            <a:ext cx="7390198" cy="5486400"/>
          </a:xfrm>
          <a:prstGeom prst="rect">
            <a:avLst/>
          </a:prstGeom>
          <a:ln w="9525">
            <a:solidFill>
              <a:srgbClr val="BDBDBD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549640" y="117043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微软雅黑"/>
              </a:rPr>
              <a:t>▸ 单章生成: 5 章节可选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1700784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微软雅黑"/>
              </a:rPr>
              <a:t>▸ 流式 SSE 实时渲染 Markdown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2231136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微软雅黑"/>
              </a:rPr>
              <a:t>▸ [占位符] 黄色高亮 (如 [公司全称])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761488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微软雅黑"/>
              </a:rPr>
              <a:t>▸ 整本合稿: 5 章 + 招标要求对照表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3291840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微软雅黑"/>
              </a:rPr>
              <a:t>▸ 体检表: 不合格项标红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82219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微软雅黑"/>
              </a:rPr>
              <a:t>▸ 复制 Markdown / 导出 DOCX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4443984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微软雅黑"/>
              </a:rPr>
              <a:t>实测: 技术方案 ~2500 字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微软雅黑"/>
              </a:rPr>
              <a:t>商务报价 ~2765 字, 含报价表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微软雅黑"/>
              </a:rPr>
              <a:t>企业资料已填字段自动回填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十、前端展示 — 知识图谱 + 企业资料库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e_test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2812"/>
            <a:ext cx="5486399" cy="3752295"/>
          </a:xfrm>
          <a:prstGeom prst="rect">
            <a:avLst/>
          </a:prstGeom>
          <a:ln w="9525">
            <a:solidFill>
              <a:srgbClr val="BDBDBD"/>
            </a:solidFill>
          </a:ln>
        </p:spPr>
      </p:pic>
      <p:pic>
        <p:nvPicPr>
          <p:cNvPr id="6" name="Picture 5" descr="fe_test_pro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232812"/>
            <a:ext cx="5486399" cy="3752295"/>
          </a:xfrm>
          <a:prstGeom prst="rect">
            <a:avLst/>
          </a:prstGeom>
          <a:ln w="9525">
            <a:solidFill>
              <a:srgbClr val="BDBDBD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65760" y="530352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微软雅黑"/>
              </a:rPr>
              <a:t>知识图谱可视化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微软雅黑"/>
              </a:rPr>
              <a:t>▸ 全图 68 节点 / 52 关系 (三类节点)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微软雅黑"/>
              </a:rPr>
              <a:t>▸ 力导向布局 + 标的物搜索 + 模糊匹配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微软雅黑"/>
              </a:rPr>
              <a:t>▸ 页面渲染 TOP 子图 39/31, hover 详情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530352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F8A5B"/>
                </a:solidFill>
                <a:latin typeface="微软雅黑"/>
              </a:rPr>
              <a:t>企业资料库 (登录鉴权)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微软雅黑"/>
              </a:rPr>
              <a:t>▸ 12 项基础字段, 敏感字段脱敏显示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微软雅黑"/>
              </a:rPr>
              <a:t>▸ 资质证书 OCR + 业绩管理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微软雅黑"/>
              </a:rPr>
              <a:t>▸ 保存后标书占位符自动回填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十一、前端展示 — 招投标专项工具 (1/2): 评估分析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7_price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868" y="1097280"/>
            <a:ext cx="5481063" cy="4069080"/>
          </a:xfrm>
          <a:prstGeom prst="rect">
            <a:avLst/>
          </a:prstGeom>
          <a:ln w="9525">
            <a:solidFill>
              <a:srgbClr val="BDBDBD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365760" y="5303520"/>
            <a:ext cx="5669280" cy="1280160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5413248"/>
            <a:ext cx="5349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</a:rPr>
              <a:t>价格分析面板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333333"/>
                </a:solidFill>
                <a:latin typeface="微软雅黑"/>
              </a:rPr>
              <a:t>• 投标报价对比分析, 异常报价提示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333333"/>
                </a:solidFill>
                <a:latin typeface="微软雅黑"/>
              </a:rPr>
              <a:t>• 总价/单价构成透明可查</a:t>
            </a:r>
          </a:p>
        </p:txBody>
      </p:sp>
      <p:pic>
        <p:nvPicPr>
          <p:cNvPr id="8" name="Picture 7" descr="08_bid_parse_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308" y="1097280"/>
            <a:ext cx="5481063" cy="4069080"/>
          </a:xfrm>
          <a:prstGeom prst="rect">
            <a:avLst/>
          </a:prstGeom>
          <a:ln w="9525">
            <a:solidFill>
              <a:srgbClr val="BDBDBD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6172200" y="5303520"/>
            <a:ext cx="5669280" cy="1280160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5413248"/>
            <a:ext cx="5349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</a:rPr>
              <a:t>标书解析 + 逐条响应矩阵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333333"/>
                </a:solidFill>
                <a:latin typeface="微软雅黑"/>
              </a:rPr>
              <a:t>• 招标要求 vs 投标响应逐条对照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333333"/>
                </a:solidFill>
                <a:latin typeface="微软雅黑"/>
              </a:rPr>
              <a:t>• 响应/偏离自动判定, 偏差项高亮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十一、前端展示 — 招投标专项工具 (2/2): 核验风控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15_cert_oc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868" y="1097280"/>
            <a:ext cx="5481063" cy="4069080"/>
          </a:xfrm>
          <a:prstGeom prst="rect">
            <a:avLst/>
          </a:prstGeom>
          <a:ln w="9525">
            <a:solidFill>
              <a:srgbClr val="BDBDBD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365760" y="5303520"/>
            <a:ext cx="5669280" cy="1280160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5413248"/>
            <a:ext cx="5349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</a:rPr>
              <a:t>企业资料 + 证书 OCR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333333"/>
                </a:solidFill>
                <a:latin typeface="微软雅黑"/>
              </a:rPr>
              <a:t>• 营业执照/资质证书自动识别录入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333333"/>
                </a:solidFill>
                <a:latin typeface="微软雅黑"/>
              </a:rPr>
              <a:t>• 敏感字段 Fernet 加密入库</a:t>
            </a:r>
          </a:p>
        </p:txBody>
      </p:sp>
      <p:pic>
        <p:nvPicPr>
          <p:cNvPr id="8" name="Picture 7" descr="09_collusion_dia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308" y="1097280"/>
            <a:ext cx="5481063" cy="4069080"/>
          </a:xfrm>
          <a:prstGeom prst="rect">
            <a:avLst/>
          </a:prstGeom>
          <a:ln w="9525">
            <a:solidFill>
              <a:srgbClr val="BDBDBD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6172200" y="5303520"/>
            <a:ext cx="5669280" cy="1280160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5413248"/>
            <a:ext cx="5349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</a:rPr>
              <a:t>围串标检测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333333"/>
                </a:solidFill>
                <a:latin typeface="微软雅黑"/>
              </a:rPr>
              <a:t>• 两份投标文件相似度对比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333333"/>
                </a:solidFill>
                <a:latin typeface="微软雅黑"/>
              </a:rPr>
              <a:t>• 特征码/报价规律等疑点自动提示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十二、质量保障 — 评测体系与验收数据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097280"/>
            <a:ext cx="1737360" cy="749808"/>
          </a:xfrm>
          <a:prstGeom prst="roundRect">
            <a:avLst/>
          </a:prstGeom>
          <a:solidFill>
            <a:srgbClr val="4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16459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检索评测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4560" y="1097280"/>
            <a:ext cx="1783080" cy="749808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243584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1F4E79"/>
                </a:solidFill>
                <a:latin typeface="微软雅黑"/>
              </a:rPr>
              <a:t>70 题 × 6 指标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1097280"/>
            <a:ext cx="7772400" cy="749808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243584"/>
            <a:ext cx="7452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333333"/>
                </a:solidFill>
                <a:latin typeface="微软雅黑"/>
              </a:rPr>
              <a:t>HitRate@5 = 100% · MRR = 1.0 · nDCG = 0.9933 · EvidenceCoverage = 100%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956816"/>
            <a:ext cx="1737360" cy="749808"/>
          </a:xfrm>
          <a:prstGeom prst="roundRect">
            <a:avLst/>
          </a:prstGeom>
          <a:solidFill>
            <a:srgbClr val="4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029968"/>
            <a:ext cx="16459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消融对比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0" y="1956816"/>
            <a:ext cx="1783080" cy="749808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210312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1F4E79"/>
                </a:solidFill>
                <a:latin typeface="微软雅黑"/>
              </a:rPr>
              <a:t>17 题 × 4 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23360" y="1956816"/>
            <a:ext cx="7772400" cy="749808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2103120"/>
            <a:ext cx="7452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333333"/>
                </a:solidFill>
                <a:latin typeface="微软雅黑"/>
              </a:rPr>
              <a:t>A0 纯 Dense 0.9756 → A3 完整 0.9953; 精排单贡献 +34.3pp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2816352"/>
            <a:ext cx="1737360" cy="749808"/>
          </a:xfrm>
          <a:prstGeom prst="roundRect">
            <a:avLst/>
          </a:prstGeom>
          <a:solidFill>
            <a:srgbClr val="3185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889504"/>
            <a:ext cx="16459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Agent 端到端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94560" y="2816352"/>
            <a:ext cx="1783080" cy="749808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0" y="2962656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1F4E79"/>
                </a:solidFill>
                <a:latin typeface="微软雅黑"/>
              </a:rPr>
              <a:t>55 题真实 HTTP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23360" y="2816352"/>
            <a:ext cx="7772400" cy="749808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0" y="2962656"/>
            <a:ext cx="7452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333333"/>
                </a:solidFill>
                <a:latin typeface="微软雅黑"/>
              </a:rPr>
              <a:t>通过率 85.5% · 工具选择 87.3% · 事实覆盖 92.6%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3675888"/>
            <a:ext cx="1737360" cy="74980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749040"/>
            <a:ext cx="16459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HTTP 验收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94560" y="3675888"/>
            <a:ext cx="1783080" cy="749808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86000" y="382219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1F4E79"/>
                </a:solidFill>
                <a:latin typeface="微软雅黑"/>
              </a:rPr>
              <a:t>60 例全场景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23360" y="3675888"/>
            <a:ext cx="7772400" cy="749808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6240" y="3822192"/>
            <a:ext cx="7452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333333"/>
                </a:solidFill>
                <a:latin typeface="微软雅黑"/>
              </a:rPr>
              <a:t>60/60 通过 · 链路可用性 100% · GATE-01 持续拒答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4535424"/>
            <a:ext cx="1737360" cy="749808"/>
          </a:xfrm>
          <a:prstGeom prst="round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608576"/>
            <a:ext cx="16459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硬闸门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94560" y="4535424"/>
            <a:ext cx="1783080" cy="749808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0" y="468172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1F4E79"/>
                </a:solidFill>
                <a:latin typeface="微软雅黑"/>
              </a:rPr>
              <a:t>54 项断言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023360" y="4535424"/>
            <a:ext cx="7772400" cy="749808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06240" y="4681728"/>
            <a:ext cx="7452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333333"/>
                </a:solidFill>
                <a:latin typeface="微软雅黑"/>
              </a:rPr>
              <a:t>无引用不生成 · 低分噪声拦截 · 特征词覆盖校验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1480" y="5394960"/>
            <a:ext cx="1737360" cy="749808"/>
          </a:xfrm>
          <a:prstGeom prst="round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468112"/>
            <a:ext cx="16459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审计与安全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194560" y="5394960"/>
            <a:ext cx="1783080" cy="749808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86000" y="5541264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1F4E79"/>
                </a:solidFill>
                <a:latin typeface="微软雅黑"/>
              </a:rPr>
              <a:t>audit_logs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023360" y="5394960"/>
            <a:ext cx="7772400" cy="749808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06240" y="5541264"/>
            <a:ext cx="7452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333333"/>
                </a:solidFill>
                <a:latin typeface="微软雅黑"/>
              </a:rPr>
              <a:t>敏感操作 + 问答交互双审计 · JWT/RBAC 三角色 · Fernet 字段加密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635508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1859C"/>
                </a:solidFill>
                <a:latin typeface="微软雅黑"/>
              </a:rPr>
              <a:t>原则: 检索与生成分离评测 · 固定语料固定题集 · 指标可复现可追溯 · 全部离线毫秒级可回归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十三、本地部署 — 两种方式一键启动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5577840" cy="4480560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微软雅黑"/>
              </a:rPr>
              <a:t>方式 A: 原生部署 (开发常用)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微软雅黑"/>
              </a:rPr>
              <a:t>1. uv sync — 建 .venv 装依赖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微软雅黑"/>
              </a:rPr>
              <a:t>2. 配置 .env — API Key / Qdrant / 加密密钥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微软雅黑"/>
              </a:rPr>
              <a:t>3. python main.py ingest — Excel 灌知识库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微软雅黑"/>
              </a:rPr>
              <a:t>4. 种子脚本 — PG 历史中标 30 条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微软雅黑"/>
              </a:rPr>
              <a:t>5. start.bat — 自动拉起前后端两个窗口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595959"/>
                </a:solidFill>
                <a:latin typeface="微软雅黑"/>
              </a:rPr>
              <a:t>前端 :3000 · 后端 :8001 · /docs 在线文档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微软雅黑"/>
              </a:rPr>
              <a:t>stop.bat 四级兜底停止 (标题/端口/进程树/进程名)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577840" cy="4480560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2801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4F8A5B"/>
                </a:solidFill>
                <a:latin typeface="微软雅黑"/>
              </a:rPr>
              <a:t>方式 B: Docker Compose 全栈 (交付演示)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78308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微软雅黑"/>
              </a:rPr>
              <a:t>start-docker.bat 一条命令起 5 容器: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微软雅黑"/>
              </a:rPr>
              <a:t>  backend (python:3.12-slim + uv)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微软雅黑"/>
              </a:rPr>
              <a:t>  frontend (Next.js standalone 产物)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微软雅黑"/>
              </a:rPr>
              <a:t>  qdrant :6333 (volume 持久化)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微软雅黑"/>
              </a:rPr>
              <a:t>  postgres :5432 (volume 持久化)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微软雅黑"/>
              </a:rPr>
              <a:t>  neo4j :7474/7687 (volume 持久化)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595959"/>
                </a:solidFill>
                <a:latin typeface="微软雅黑"/>
              </a:rPr>
              <a:t>健康检查轮询 60s → 自动开浏览器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微软雅黑"/>
              </a:rPr>
              <a:t>容器内服务名互联, restart: unless-stopped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852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微软雅黑"/>
              </a:rPr>
              <a:t>组件清单: FastAPI API + Next.js 前端 + Qdrant 向量库 + PostgreSQL 业务库 + Neo4j 图谱 + BGE-M3/reranker 本地模型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微软雅黑"/>
              </a:rPr>
              <a:t>模型本地化: HF_HOME 重定向 D 盘, 离线可加载, 无 GPU 依赖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BF8F00"/>
                </a:solidFill>
                <a:latin typeface="微软雅黑"/>
              </a:rPr>
              <a:t>十四、总结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微软雅黑"/>
              </a:rPr>
              <a:t>从 "能回答" 到 "有依据地回答"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BDD7EE"/>
                </a:solidFill>
                <a:latin typeface="微软雅黑"/>
              </a:rPr>
              <a:t>业务价值并非回答更多, 而是回答时更有可靠依据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BDD7EE"/>
                </a:solidFill>
                <a:latin typeface="微软雅黑"/>
              </a:rPr>
              <a:t>准确性基础 · 幻觉风险降低 · 可信问答增强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